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0D9488"/>
                </a:solidFill>
              </a:rPr>
              <a:t>INAMIGOS FOUNDATION INTERNSHIP  •  TASK 1</a:t>
            </a:r>
          </a:p>
          <a:p>
            <a:pPr>
              <a:spcAft>
                <a:spcPts val="1200"/>
              </a:spcAft>
            </a:pPr>
            <a:r>
              <a:rPr sz="4000" b="1">
                <a:solidFill>
                  <a:srgbClr val="FFFFFF"/>
                </a:solidFill>
              </a:rPr>
              <a:t>AI Tools Discovery &amp; Exploration</a:t>
            </a:r>
          </a:p>
          <a:p>
            <a:r>
              <a:rPr sz="1600">
                <a:solidFill>
                  <a:srgbClr val="CBD5E1"/>
                </a:solidFill>
              </a:rPr>
              <a:t>Analyzing 5 Transformative AI Solutions Shaping Education, Productivity, Design &amp; Media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846320"/>
            <a:ext cx="996696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>
                <a:solidFill>
                  <a:srgbClr val="94A3B8"/>
                </a:solidFill>
              </a:rPr>
              <a:t>Presented by: </a:t>
            </a:r>
            <a:r>
              <a:rPr sz="1400" b="1">
                <a:solidFill>
                  <a:srgbClr val="FFFFFF"/>
                </a:solidFill>
              </a:rPr>
              <a:t>Prajin K   |   </a:t>
            </a:r>
            <a:r>
              <a:rPr sz="1300">
                <a:solidFill>
                  <a:srgbClr val="94A3B8"/>
                </a:solidFill>
              </a:rPr>
              <a:t>Task: </a:t>
            </a:r>
            <a:r>
              <a:rPr sz="1400" b="1">
                <a:solidFill>
                  <a:srgbClr val="FFFFFF"/>
                </a:solidFill>
              </a:rPr>
              <a:t>Task 1: AI Tools Discovery   |   </a:t>
            </a:r>
            <a:r>
              <a:rPr sz="1300">
                <a:solidFill>
                  <a:srgbClr val="94A3B8"/>
                </a:solidFill>
              </a:rPr>
              <a:t>Platform: </a:t>
            </a:r>
            <a:r>
              <a:rPr sz="1400" b="1">
                <a:solidFill>
                  <a:srgbClr val="0D9488"/>
                </a:solidFill>
              </a:rPr>
              <a:t>InAmigos Foundation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84C78"/>
                </a:solidFill>
              </a:rPr>
              <a:t>Executive Overview: Navigating the Modern AI Ecosystem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290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spcAft>
                <a:spcPts val="1400"/>
              </a:spcAft>
            </a:pPr>
            <a:r>
              <a:rPr sz="2800" b="1">
                <a:solidFill>
                  <a:srgbClr val="0D9488"/>
                </a:solidFill>
              </a:rPr>
              <a:t>01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84C78"/>
                </a:solidFill>
              </a:rPr>
              <a:t>Why AI Exploration?</a:t>
            </a:r>
          </a:p>
          <a:p>
            <a:r>
              <a:rPr sz="1200">
                <a:solidFill>
                  <a:srgbClr val="1E293B"/>
                </a:solidFill>
              </a:rPr>
              <a:t>AI tools have transitioned from technical curiosities into core infrastructure across industries. Understanding specialized tools is now a foundational competency for all professionals.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828800"/>
            <a:ext cx="34290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spcAft>
                <a:spcPts val="1400"/>
              </a:spcAft>
            </a:pPr>
            <a:r>
              <a:rPr sz="2800" b="1">
                <a:solidFill>
                  <a:srgbClr val="0D9488"/>
                </a:solidFill>
              </a:rPr>
              <a:t>02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84C78"/>
                </a:solidFill>
              </a:rPr>
              <a:t>Categories Explored</a:t>
            </a:r>
          </a:p>
          <a:p>
            <a:r>
              <a:rPr sz="1200">
                <a:solidFill>
                  <a:srgbClr val="1E293B"/>
                </a:solidFill>
              </a:rPr>
              <a:t>To ensure holistic discovery, this study analyzes 5 distinct domains: Academic Research, Workspace Productivity, Creative Image Generation, Synthetic Video, and Presentation Systems.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828800"/>
            <a:ext cx="34290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spcAft>
                <a:spcPts val="1400"/>
              </a:spcAft>
            </a:pPr>
            <a:r>
              <a:rPr sz="2800" b="1">
                <a:solidFill>
                  <a:srgbClr val="0D9488"/>
                </a:solidFill>
              </a:rPr>
              <a:t>03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84C78"/>
                </a:solidFill>
              </a:rPr>
              <a:t>Key Evaluation Criteria</a:t>
            </a:r>
          </a:p>
          <a:p>
            <a:r>
              <a:rPr sz="1200">
                <a:solidFill>
                  <a:srgbClr val="1E293B"/>
                </a:solidFill>
              </a:rPr>
              <a:t>Each tool is scrutinized on its core purpose, real-world practical use case, friction reduction, and democratization of technical skills.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926080" cy="36576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84C78"/>
                </a:solidFill>
              </a:rPr>
              <a:t>EDUCATION &amp; ACADEMIC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84C78"/>
                </a:solidFill>
              </a:rPr>
              <a:t>Perplexity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0D9488"/>
                </a:solidFill>
              </a:rPr>
              <a:t>The Citation-Backed AI Search &amp; Discovery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67665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84C78"/>
                </a:solidFill>
              </a:rPr>
              <a:t>CORE PURPOSE</a:t>
            </a:r>
          </a:p>
          <a:p>
            <a:pPr>
              <a:spcAft>
                <a:spcPts val="1400"/>
              </a:spcAft>
            </a:pPr>
            <a:r>
              <a:rPr sz="1200">
                <a:solidFill>
                  <a:srgbClr val="1E293B"/>
                </a:solidFill>
              </a:rPr>
              <a:t>A conversational AI search engine designed to provide comprehensive, factual answers backed by verifiable real-time web citations and academic repositories.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D9488"/>
                </a:solidFill>
              </a:rPr>
              <a:t>PRACTICAL USE CASE: ACADEMIC RESEARCH &amp; LITERATURE SYNTHESIS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1E293B"/>
                </a:solidFill>
              </a:rPr>
              <a:t>A student investigating renewable energy policies queries Perplexity. Within seconds, it synthesizes recent whitepapers and policy journals into an executive summary with interactive numeric citations linking directly to verified publications.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828800"/>
            <a:ext cx="3703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20040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184C78"/>
                </a:solidFill>
              </a:rPr>
              <a:t>KEY CAPABILITIES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E293B"/>
                </a:solidFill>
              </a:rPr>
              <a:t>•  Real-Time Web Indexing with source links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E293B"/>
                </a:solidFill>
              </a:rPr>
              <a:t>•  Academic Filter for peer-reviewed papers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E293B"/>
                </a:solidFill>
              </a:rPr>
              <a:t>•  Collections feature for structured project files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E293B"/>
                </a:solidFill>
              </a:rPr>
              <a:t>•  Direct PDF/Document analysis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100" b="1">
                <a:solidFill>
                  <a:srgbClr val="0D9488"/>
                </a:solidFill>
              </a:rPr>
              <a:t>WORKFLOW IMPACT</a:t>
            </a:r>
          </a:p>
          <a:p>
            <a:r>
              <a:rPr sz="1150" i="1">
                <a:solidFill>
                  <a:srgbClr val="1E293B"/>
                </a:solidFill>
              </a:rPr>
              <a:t>Cuts research time by 70% while mitigating hallucinations.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926080" cy="36576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84C78"/>
                </a:solidFill>
              </a:rPr>
              <a:t>PRODUCTIVITY &amp; WORKSPACE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84C78"/>
                </a:solidFill>
              </a:rPr>
              <a:t>Notion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0D9488"/>
                </a:solidFill>
              </a:rPr>
              <a:t>Connected Intelligence for Notes, Docs &amp; Projects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67665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84C78"/>
                </a:solidFill>
              </a:rPr>
              <a:t>CORE PURPOSE</a:t>
            </a:r>
          </a:p>
          <a:p>
            <a:pPr>
              <a:spcAft>
                <a:spcPts val="1400"/>
              </a:spcAft>
            </a:pPr>
            <a:r>
              <a:rPr sz="1200">
                <a:solidFill>
                  <a:srgbClr val="1E293B"/>
                </a:solidFill>
              </a:rPr>
              <a:t>An integrated workflow AI assistant embedded natively inside Notion, automating writing, project tracking, synthesis, and cross-workspace knowledge retrieval.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D9488"/>
                </a:solidFill>
              </a:rPr>
              <a:t>PRACTICAL USE CASE: MEETING MINUTES &amp; TASK AUTOMATION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1E293B"/>
                </a:solidFill>
              </a:rPr>
              <a:t>After a team sync, an intern pastes raw bullet points into Notion. Notion AI extracts key decisions, creates a table of action items assigned to teammates, and drafts a stakeholder update email with one click.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828800"/>
            <a:ext cx="3703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20040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184C78"/>
                </a:solidFill>
              </a:rPr>
              <a:t>KEY CAPABILITIES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E293B"/>
                </a:solidFill>
              </a:rPr>
              <a:t>•  Instant Meeting Notes Summarization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E293B"/>
                </a:solidFill>
              </a:rPr>
              <a:t>•  Workspace Q&amp;A across databases &amp; Slack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E293B"/>
                </a:solidFill>
              </a:rPr>
              <a:t>•  Tone Refactoring &amp; Copy Editing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E293B"/>
                </a:solidFill>
              </a:rPr>
              <a:t>•  Automated Project Property Autofill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100" b="1">
                <a:solidFill>
                  <a:srgbClr val="0D9488"/>
                </a:solidFill>
              </a:rPr>
              <a:t>WORKFLOW IMPACT</a:t>
            </a:r>
          </a:p>
          <a:p>
            <a:r>
              <a:rPr sz="1150" i="1">
                <a:solidFill>
                  <a:srgbClr val="1E293B"/>
                </a:solidFill>
              </a:rPr>
              <a:t>Eliminates documentation overhead and streamlines team alignment.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926080" cy="36576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84C78"/>
                </a:solidFill>
              </a:rPr>
              <a:t>IMAGE GENERATION &amp; VISUAL 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84C78"/>
                </a:solidFill>
              </a:rPr>
              <a:t>Midjourney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0D9488"/>
                </a:solidFill>
              </a:rPr>
              <a:t>State-of-the-Art Diffusion Text-to-Image Synthesis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67665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84C78"/>
                </a:solidFill>
              </a:rPr>
              <a:t>CORE PURPOSE</a:t>
            </a:r>
          </a:p>
          <a:p>
            <a:pPr>
              <a:spcAft>
                <a:spcPts val="1400"/>
              </a:spcAft>
            </a:pPr>
            <a:r>
              <a:rPr sz="1200">
                <a:solidFill>
                  <a:srgbClr val="1E293B"/>
                </a:solidFill>
              </a:rPr>
              <a:t>A cutting-edge generative AI model that translates descriptive natural language prompts into high-resolution, photorealistic, and stylized visual artwork.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D9488"/>
                </a:solidFill>
              </a:rPr>
              <a:t>PRACTICAL USE CASE: CAMPAIGN CONCEPT ART &amp; MOOD BOARDING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1E293B"/>
                </a:solidFill>
              </a:rPr>
              <a:t>A creative intern designing an awareness campaign for InAmigos Foundation generates vivid photorealistic concept artwork depicting community impact and futuristic green initiatives in seconds, replacing costly stock photos.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828800"/>
            <a:ext cx="3703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20040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184C78"/>
                </a:solidFill>
              </a:rPr>
              <a:t>KEY CAPABILITIES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E293B"/>
                </a:solidFill>
              </a:rPr>
              <a:t>•  Unmatched Aesthetic Quality &amp; Photorealism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E293B"/>
                </a:solidFill>
              </a:rPr>
              <a:t>•  Precise Aspect Ratio &amp; Camera Controls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E293B"/>
                </a:solidFill>
              </a:rPr>
              <a:t>•  Inpainting (Vary Region) &amp; Canvas Expansion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E293B"/>
                </a:solidFill>
              </a:rPr>
              <a:t>•  Style Referencing &amp; Consistent Character Prompting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100" b="1">
                <a:solidFill>
                  <a:srgbClr val="0D9488"/>
                </a:solidFill>
              </a:rPr>
              <a:t>WORKFLOW IMPACT</a:t>
            </a:r>
          </a:p>
          <a:p>
            <a:r>
              <a:rPr sz="1150" i="1">
                <a:solidFill>
                  <a:srgbClr val="1E293B"/>
                </a:solidFill>
              </a:rPr>
              <a:t>Democratizes high-end visual design for non-artists.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926080" cy="36576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84C78"/>
                </a:solidFill>
              </a:rPr>
              <a:t>VIDEO CREATION &amp; AI AVATARS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84C78"/>
                </a:solidFill>
              </a:rPr>
              <a:t>Synthesia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0D9488"/>
                </a:solidFill>
              </a:rPr>
              <a:t>Text-to-Video Production with Realistic Digital Avatars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67665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84C78"/>
                </a:solidFill>
              </a:rPr>
              <a:t>CORE PURPOSE</a:t>
            </a:r>
          </a:p>
          <a:p>
            <a:pPr>
              <a:spcAft>
                <a:spcPts val="1400"/>
              </a:spcAft>
            </a:pPr>
            <a:r>
              <a:rPr sz="1200">
                <a:solidFill>
                  <a:srgbClr val="1E293B"/>
                </a:solidFill>
              </a:rPr>
              <a:t>An enterprise-grade synthetic media platform that converts written scripts into studio-grade presenter videos featuring expressive AI avatars in 120+ languages.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D9488"/>
                </a:solidFill>
              </a:rPr>
              <a:t>PRACTICAL USE CASE: MULTILINGUAL VOLUNTEER ONBOARDING MODULES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1E293B"/>
                </a:solidFill>
              </a:rPr>
              <a:t>An organization creates a global volunteer training series. Instead of booking actors, studios, and cameras, they input their training script into Synthesia, which generates polished video tutorials in English, Hindi, and Spanish.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828800"/>
            <a:ext cx="3703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20040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184C78"/>
                </a:solidFill>
              </a:rPr>
              <a:t>KEY CAPABILITIES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E293B"/>
                </a:solidFill>
              </a:rPr>
              <a:t>•  150+ Diverse Photorealistic Human Avatars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E293B"/>
                </a:solidFill>
              </a:rPr>
              <a:t>•  Voice Synthesis in 120+ Regional Languages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E293B"/>
                </a:solidFill>
              </a:rPr>
              <a:t>•  Turnkey Script-to-Video Workflow in minutes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E293B"/>
                </a:solidFill>
              </a:rPr>
              <a:t>•  Easy updates without costly re-shoots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100" b="1">
                <a:solidFill>
                  <a:srgbClr val="0D9488"/>
                </a:solidFill>
              </a:rPr>
              <a:t>WORKFLOW IMPACT</a:t>
            </a:r>
          </a:p>
          <a:p>
            <a:r>
              <a:rPr sz="1150" i="1">
                <a:solidFill>
                  <a:srgbClr val="1E293B"/>
                </a:solidFill>
              </a:rPr>
              <a:t>Reduces corporate video production costs and timelines by 80%.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926080" cy="36576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84C78"/>
                </a:solidFill>
              </a:rPr>
              <a:t>PRESENTATIONS &amp; INTERACTIVE DECKS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84C78"/>
                </a:solidFill>
              </a:rPr>
              <a:t>Gamma AI (Gamma.app)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0D9488"/>
                </a:solidFill>
              </a:rPr>
              <a:t>Prompt-to-Presentation with Dynamic Responsive Layouts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67665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84C78"/>
                </a:solidFill>
              </a:rPr>
              <a:t>CORE PURPOSE</a:t>
            </a:r>
          </a:p>
          <a:p>
            <a:pPr>
              <a:spcAft>
                <a:spcPts val="1400"/>
              </a:spcAft>
            </a:pPr>
            <a:r>
              <a:rPr sz="1200">
                <a:solidFill>
                  <a:srgbClr val="1E293B"/>
                </a:solidFill>
              </a:rPr>
              <a:t>An AI-powered presentation and document generator that produces polished, beautifully structured, interactive card decks from brief outlines or text notes.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D9488"/>
                </a:solidFill>
              </a:rPr>
              <a:t>PRACTICAL USE CASE: INSTANT PITCH DECK &amp; REPORT FORMATTING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1E293B"/>
                </a:solidFill>
              </a:rPr>
              <a:t>Needing to present project results on short notice, an intern submits an outline into Gamma AI. The tool builds a 10-slide responsive presentation complete with modern typography, card layouts, and visual hierarchy ready to share.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828800"/>
            <a:ext cx="3703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20040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184C78"/>
                </a:solidFill>
              </a:rPr>
              <a:t>KEY CAPABILITIES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E293B"/>
                </a:solidFill>
              </a:rPr>
              <a:t>•  One-Click Prompt/Doc to Presentation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E293B"/>
                </a:solidFill>
              </a:rPr>
              <a:t>•  Fluid Card UI breaking rigid slide limitations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E293B"/>
                </a:solidFill>
              </a:rPr>
              <a:t>•  Interactive Embeds (Websites, Figma, Video)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1E293B"/>
                </a:solidFill>
              </a:rPr>
              <a:t>•  One-Click Restyling &amp; Responsive Formatting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100" b="1">
                <a:solidFill>
                  <a:srgbClr val="0D9488"/>
                </a:solidFill>
              </a:rPr>
              <a:t>WORKFLOW IMPACT</a:t>
            </a:r>
          </a:p>
          <a:p>
            <a:r>
              <a:rPr sz="1150" i="1">
                <a:solidFill>
                  <a:srgbClr val="1E293B"/>
                </a:solidFill>
              </a:rPr>
              <a:t>Allows presenters to focus on storytelling rather than alignment.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84C78"/>
                </a:solidFill>
              </a:rPr>
              <a:t>Comparative Analysis: AI Tools Across Categories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468880"/>
                <a:gridCol w="3474720"/>
                <a:gridCol w="2651760"/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Tool Name</a:t>
                      </a:r>
                    </a:p>
                  </a:txBody>
                  <a:tcPr>
                    <a:solidFill>
                      <a:srgbClr val="184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184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Core Value Proposition</a:t>
                      </a:r>
                    </a:p>
                  </a:txBody>
                  <a:tcPr>
                    <a:solidFill>
                      <a:srgbClr val="184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Target User</a:t>
                      </a:r>
                    </a:p>
                  </a:txBody>
                  <a:tcPr>
                    <a:solidFill>
                      <a:srgbClr val="184C7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84C78"/>
                          </a:solidFill>
                        </a:rPr>
                        <a:t>Perplexity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Education &amp; Research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Source-verified real-time answer synthesis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Students, Researchers &amp; Analysts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84C78"/>
                          </a:solidFill>
                        </a:rPr>
                        <a:t>Notion AI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Productivity &amp; Ops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Native workspace summarization &amp; custom Q&amp;A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Project Managers, Teams, Interns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84C78"/>
                          </a:solidFill>
                        </a:rPr>
                        <a:t>Midjourney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Image 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Unmatched photorealistic visual asset 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Creative Designers, Marketers, Artists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84C78"/>
                          </a:solidFill>
                        </a:rPr>
                        <a:t>Synthesia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Video Creation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Turnkey script-to-video with multilingual avatars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Corporate Trainers, HR, Educators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84C78"/>
                          </a:solidFill>
                        </a:rPr>
                        <a:t>Gamma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Presentations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Outline-to-responsive slide deck 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Speakers, Founders, Presenters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84C78"/>
                </a:solidFill>
              </a:rPr>
              <a:t>Key Insights &amp; Practical Internship Takeaways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8288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84C78"/>
                </a:solidFill>
              </a:rPr>
              <a:t>1. Specialized AI Over Generic Chatbots</a:t>
            </a:r>
          </a:p>
          <a:p>
            <a:r>
              <a:rPr sz="1150">
                <a:solidFill>
                  <a:srgbClr val="1E293B"/>
                </a:solidFill>
              </a:rPr>
              <a:t>While general-purpose LLMs are versatile, specialized domain tools (e.g. Gamma for slides, Perplexity for citations) offer superior workflow acceleration and lower friction.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8288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84C78"/>
                </a:solidFill>
              </a:rPr>
              <a:t>2. Multi-Modal Workflow Orchestration</a:t>
            </a:r>
          </a:p>
          <a:p>
            <a:r>
              <a:rPr sz="1150">
                <a:solidFill>
                  <a:srgbClr val="1E293B"/>
                </a:solidFill>
              </a:rPr>
              <a:t>The modern competitive advantage lies in chaining AI tools: using Perplexity for research, Notion AI for structuring, Midjourney for artwork, and Synthesia for presentations.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106984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8288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84C78"/>
                </a:solidFill>
              </a:rPr>
              <a:t>3. The Human-in-the-Loop Imperative</a:t>
            </a:r>
          </a:p>
          <a:p>
            <a:r>
              <a:rPr sz="1150">
                <a:solidFill>
                  <a:srgbClr val="1E293B"/>
                </a:solidFill>
              </a:rPr>
              <a:t>AI provides powerful 10x drafting leverage, but critical thinking, verification, empathetic judgment, and ethical oversight remain irreplaceable human responsibilities.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457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D9488"/>
                </a:solidFill>
              </a:rPr>
              <a:t>TASK 1 COMPLETED</a:t>
            </a:r>
          </a:p>
          <a:p>
            <a:pPr>
              <a:spcAft>
                <a:spcPts val="1400"/>
              </a:spcAft>
            </a:pPr>
            <a:r>
              <a:rPr sz="4400" b="1">
                <a:solidFill>
                  <a:srgbClr val="FFFFFF"/>
                </a:solidFill>
              </a:rPr>
              <a:t>Thank You!</a:t>
            </a:r>
          </a:p>
          <a:p>
            <a:pPr>
              <a:spcAft>
                <a:spcPts val="2000"/>
              </a:spcAft>
            </a:pPr>
            <a:r>
              <a:rPr sz="1500">
                <a:solidFill>
                  <a:srgbClr val="CBD5E1"/>
                </a:solidFill>
              </a:rPr>
              <a:t>Special thanks to InAmigos Foundation for fostering an environment of active experimentation and technological curiosity.</a:t>
            </a:r>
          </a:p>
          <a:p>
            <a:r>
              <a:rPr sz="1300">
                <a:solidFill>
                  <a:srgbClr val="94A3B8"/>
                </a:solidFill>
              </a:rPr>
              <a:t>Candidate: Prajin K   •   Internship Domain: AI &amp; Emerging 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